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82" r:id="rId3"/>
    <p:sldId id="257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0" Type="http://schemas.openxmlformats.org/officeDocument/2006/relationships/tableStyles" Target="tableStyles.xml"/><Relationship Id="rId3" Type="http://schemas.openxmlformats.org/officeDocument/2006/relationships/slide" Target="slides/slide1.xml"/><Relationship Id="rId29" Type="http://schemas.openxmlformats.org/officeDocument/2006/relationships/viewProps" Target="viewProps.xml"/><Relationship Id="rId28" Type="http://schemas.openxmlformats.org/officeDocument/2006/relationships/presProps" Target="presProps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9525" y="-3175"/>
            <a:ext cx="9153525" cy="68611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051" name="Rectangle 3"/>
          <p:cNvSpPr>
            <a:spLocks noGrp="1" noChangeArrowheads="1"/>
          </p:cNvSpPr>
          <p:nvPr>
            <p:ph type="ctrTitle"/>
          </p:nvPr>
        </p:nvSpPr>
        <p:spPr>
          <a:xfrm>
            <a:off x="1547813" y="1125538"/>
            <a:ext cx="6908800" cy="1082675"/>
          </a:xfrm>
        </p:spPr>
        <p:txBody>
          <a:bodyPr/>
          <a:lstStyle>
            <a:lvl1pPr algn="r">
              <a:defRPr/>
            </a:lvl1pPr>
          </a:lstStyle>
          <a:p>
            <a:pPr lvl="0"/>
            <a:r>
              <a:rPr lang="en-US" altLang="zh-CN" noProof="0" smtClean="0"/>
              <a:t>Click to edit Master title style</a:t>
            </a:r>
            <a:endParaRPr lang="en-US" altLang="zh-CN" noProof="0" smtClean="0"/>
          </a:p>
        </p:txBody>
      </p:sp>
      <p:sp>
        <p:nvSpPr>
          <p:cNvPr id="2052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1547813" y="2351088"/>
            <a:ext cx="6913562" cy="1752600"/>
          </a:xfrm>
        </p:spPr>
        <p:txBody>
          <a:bodyPr/>
          <a:lstStyle>
            <a:lvl1pPr marL="0" indent="0" algn="r">
              <a:buFontTx/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altLang="zh-CN" noProof="0" smtClean="0"/>
              <a:t>Click to edit Master subtitle style</a:t>
            </a:r>
            <a:endParaRPr lang="en-US" altLang="zh-CN" noProof="0" smtClean="0"/>
          </a:p>
        </p:txBody>
      </p:sp>
      <p:sp>
        <p:nvSpPr>
          <p:cNvPr id="9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10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11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174750"/>
            <a:ext cx="4038600" cy="4953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174750"/>
            <a:ext cx="4038600" cy="4953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90500"/>
            <a:ext cx="2057400" cy="593725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90500"/>
            <a:ext cx="6019800" cy="59372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4" Type="http://schemas.openxmlformats.org/officeDocument/2006/relationships/theme" Target="../theme/theme1.xml"/><Relationship Id="rId13" Type="http://schemas.openxmlformats.org/officeDocument/2006/relationships/image" Target="../media/image2.jpeg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026" name="Picture 6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0" y="0"/>
            <a:ext cx="9148763" cy="68611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27" name="Rectangle 3"/>
          <p:cNvSpPr>
            <a:spLocks noGrp="1"/>
          </p:cNvSpPr>
          <p:nvPr>
            <p:ph type="title"/>
          </p:nvPr>
        </p:nvSpPr>
        <p:spPr>
          <a:xfrm>
            <a:off x="457200" y="190500"/>
            <a:ext cx="8229600" cy="582613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en-US" altLang="zh-CN" dirty="0"/>
              <a:t>Click to edit Master title style</a:t>
            </a:r>
            <a:endParaRPr lang="en-US" altLang="zh-CN" dirty="0"/>
          </a:p>
        </p:txBody>
      </p:sp>
      <p:sp>
        <p:nvSpPr>
          <p:cNvPr id="1028" name="Rectangle 4"/>
          <p:cNvSpPr>
            <a:spLocks noGrp="1"/>
          </p:cNvSpPr>
          <p:nvPr>
            <p:ph type="body" idx="1"/>
          </p:nvPr>
        </p:nvSpPr>
        <p:spPr>
          <a:xfrm>
            <a:off x="457200" y="1174750"/>
            <a:ext cx="8229600" cy="49530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en-US" altLang="zh-CN" dirty="0"/>
              <a:t>Click to edit Master text styles</a:t>
            </a:r>
            <a:endParaRPr lang="en-US" altLang="zh-CN" dirty="0"/>
          </a:p>
          <a:p>
            <a:pPr lvl="1"/>
            <a:r>
              <a:rPr lang="en-US" altLang="zh-CN" dirty="0"/>
              <a:t>Second level</a:t>
            </a:r>
            <a:endParaRPr lang="en-US" altLang="zh-CN" dirty="0"/>
          </a:p>
          <a:p>
            <a:pPr lvl="2"/>
            <a:r>
              <a:rPr lang="en-US" altLang="zh-CN" dirty="0"/>
              <a:t>Third level</a:t>
            </a:r>
            <a:endParaRPr lang="en-US" altLang="zh-CN" dirty="0"/>
          </a:p>
          <a:p>
            <a:pPr lvl="3"/>
            <a:r>
              <a:rPr lang="en-US" altLang="zh-CN" dirty="0"/>
              <a:t>Fourth level</a:t>
            </a:r>
            <a:endParaRPr lang="en-US" altLang="zh-CN" dirty="0"/>
          </a:p>
          <a:p>
            <a:pPr lvl="4"/>
            <a:r>
              <a:rPr lang="en-US" altLang="zh-CN" dirty="0"/>
              <a:t>Fifth level</a:t>
            </a:r>
            <a:endParaRPr lang="en-US" altLang="zh-CN" dirty="0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1400"/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/>
            </a:lvl1pPr>
          </a:lstStyle>
          <a:p>
            <a:endParaRPr lang="en-US"/>
          </a:p>
        </p:txBody>
      </p:sp>
      <p:sp>
        <p:nvSpPr>
          <p:cNvPr id="1031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/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lvl1pPr algn="l" rtl="0" fontAlgn="base">
        <a:spcBef>
          <a:spcPct val="0"/>
        </a:spcBef>
        <a:spcAft>
          <a:spcPct val="0"/>
        </a:spcAft>
        <a:defRPr sz="3600" kern="1200">
          <a:solidFill>
            <a:schemeClr val="bg1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panose="020B0604020202020204" pitchFamily="34" charset="0"/>
          <a:ea typeface="SimSun" panose="02010600030101010101" pitchFamily="2" charset="-122"/>
        </a:defRPr>
      </a:lvl2pPr>
      <a:lvl3pPr algn="l" rtl="0" fontAlgn="base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panose="020B0604020202020204" pitchFamily="34" charset="0"/>
          <a:ea typeface="SimSun" panose="02010600030101010101" pitchFamily="2" charset="-122"/>
        </a:defRPr>
      </a:lvl3pPr>
      <a:lvl4pPr algn="l" rtl="0" fontAlgn="base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panose="020B0604020202020204" pitchFamily="34" charset="0"/>
          <a:ea typeface="SimSun" panose="02010600030101010101" pitchFamily="2" charset="-122"/>
        </a:defRPr>
      </a:lvl4pPr>
      <a:lvl5pPr algn="l" rtl="0" fontAlgn="base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panose="020B0604020202020204" pitchFamily="34" charset="0"/>
          <a:ea typeface="SimSun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panose="020B0604020202020204" pitchFamily="34" charset="0"/>
          <a:ea typeface="SimSun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panose="020B0604020202020204" pitchFamily="34" charset="0"/>
          <a:ea typeface="SimSun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panose="020B0604020202020204" pitchFamily="34" charset="0"/>
          <a:ea typeface="SimSun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panose="020B0604020202020204" pitchFamily="34" charset="0"/>
          <a:ea typeface="SimSun" panose="02010600030101010101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 noChangeArrowheads="1"/>
          </p:cNvSpPr>
          <p:nvPr>
            <p:ph type="ctrTitle"/>
          </p:nvPr>
        </p:nvSpPr>
        <p:spPr/>
        <p:txBody>
          <a:bodyPr/>
          <a:p>
            <a:r>
              <a:rPr lang="en-US">
                <a:latin typeface="Times New Roman" panose="02020603050405020304" charset="0"/>
                <a:cs typeface="Times New Roman" panose="02020603050405020304" charset="0"/>
              </a:rPr>
              <a:t>DATALINK  LAYER</a:t>
            </a:r>
            <a:endParaRPr 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" name="Subtitle 4"/>
          <p:cNvSpPr>
            <a:spLocks noGrp="1" noChangeArrowheads="1"/>
          </p:cNvSpPr>
          <p:nvPr>
            <p:ph type="subTitle" idx="1"/>
          </p:nvPr>
        </p:nvSpPr>
        <p:spPr>
          <a:xfrm>
            <a:off x="1557338" y="2351088"/>
            <a:ext cx="6913562" cy="1752600"/>
          </a:xfrm>
        </p:spPr>
        <p:txBody>
          <a:bodyPr/>
          <a:p>
            <a:r>
              <a:rPr lang="en-US"/>
              <a:t>Second layer of OSI</a:t>
            </a:r>
            <a:endParaRPr lang="en-US"/>
          </a:p>
          <a:p>
            <a:r>
              <a:rPr lang="en-US"/>
              <a:t> model</a:t>
            </a:r>
            <a:endParaRPr lang="en-US"/>
          </a:p>
          <a:p>
            <a:r>
              <a:rPr lang="en-US" sz="2400">
                <a:latin typeface="Times New Roman" panose="02020603050405020304" charset="0"/>
                <a:cs typeface="Times New Roman" panose="02020603050405020304" charset="0"/>
              </a:rPr>
              <a:t>Presentated by  group A</a:t>
            </a:r>
            <a:endParaRPr lang="en-US" sz="240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Times New Roman" panose="02020603050405020304" charset="0"/>
                <a:cs typeface="Times New Roman" panose="02020603050405020304" charset="0"/>
              </a:rPr>
              <a:t>What is Data Link Layer?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>
                <a:latin typeface="Times New Roman" panose="02020603050405020304" charset="0"/>
                <a:cs typeface="Times New Roman" panose="02020603050405020304" charset="0"/>
              </a:rPr>
              <a:t>Organizes raw bits into frames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>
                <a:latin typeface="Times New Roman" panose="02020603050405020304" charset="0"/>
                <a:cs typeface="Times New Roman" panose="02020603050405020304" charset="0"/>
              </a:rPr>
              <a:t>Ensures safe delivery to next node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>
                <a:latin typeface="Times New Roman" panose="02020603050405020304" charset="0"/>
                <a:cs typeface="Times New Roman" panose="02020603050405020304" charset="0"/>
              </a:rPr>
              <a:t>Works over the same physical link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>
                <a:latin typeface="Times New Roman" panose="02020603050405020304" charset="0"/>
                <a:cs typeface="Times New Roman" panose="02020603050405020304" charset="0"/>
                <a:sym typeface="+mn-ea"/>
              </a:rPr>
              <a:t>Provides reliable, error-free communication</a:t>
            </a:r>
            <a:endParaRPr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r>
              <a:rPr>
                <a:latin typeface="Times New Roman" panose="02020603050405020304" charset="0"/>
                <a:cs typeface="Times New Roman" panose="02020603050405020304" charset="0"/>
                <a:sym typeface="+mn-ea"/>
              </a:rPr>
              <a:t>Transfers data between directly connected devices</a:t>
            </a:r>
            <a:endParaRPr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Times New Roman" panose="02020603050405020304" charset="0"/>
                <a:cs typeface="Times New Roman" panose="02020603050405020304" charset="0"/>
              </a:rPr>
              <a:t>Responsibilities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>
                <a:latin typeface="Times New Roman" panose="02020603050405020304" charset="0"/>
                <a:cs typeface="Times New Roman" panose="02020603050405020304" charset="0"/>
              </a:rPr>
              <a:t>Framing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>
                <a:latin typeface="Times New Roman" panose="02020603050405020304" charset="0"/>
                <a:cs typeface="Times New Roman" panose="02020603050405020304" charset="0"/>
              </a:rPr>
              <a:t>MAC addressing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>
                <a:latin typeface="Times New Roman" panose="02020603050405020304" charset="0"/>
                <a:cs typeface="Times New Roman" panose="02020603050405020304" charset="0"/>
              </a:rPr>
              <a:t>Error control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>
                <a:latin typeface="Times New Roman" panose="02020603050405020304" charset="0"/>
                <a:cs typeface="Times New Roman" panose="02020603050405020304" charset="0"/>
              </a:rPr>
              <a:t>Flow control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>
                <a:latin typeface="Times New Roman" panose="02020603050405020304" charset="0"/>
                <a:cs typeface="Times New Roman" panose="02020603050405020304" charset="0"/>
              </a:rPr>
              <a:t>Access control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>
                <a:latin typeface="Times New Roman" panose="02020603050405020304" charset="0"/>
                <a:cs typeface="Times New Roman" panose="02020603050405020304" charset="0"/>
              </a:rPr>
              <a:t>Duplex control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Times New Roman" panose="02020603050405020304" charset="0"/>
                <a:cs typeface="Times New Roman" panose="02020603050405020304" charset="0"/>
              </a:rPr>
              <a:t>Framing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>
                <a:latin typeface="Times New Roman" panose="02020603050405020304" charset="0"/>
                <a:cs typeface="Times New Roman" panose="02020603050405020304" charset="0"/>
              </a:rPr>
              <a:t>Divides bit stream into frames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>
                <a:latin typeface="Times New Roman" panose="02020603050405020304" charset="0"/>
                <a:cs typeface="Times New Roman" panose="02020603050405020304" charset="0"/>
              </a:rPr>
              <a:t>Adds header and trailer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>
                <a:latin typeface="Times New Roman" panose="02020603050405020304" charset="0"/>
                <a:cs typeface="Times New Roman" panose="02020603050405020304" charset="0"/>
              </a:rPr>
              <a:t>Helps in synchronization and error detection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Times New Roman" panose="02020603050405020304" charset="0"/>
                <a:cs typeface="Times New Roman" panose="02020603050405020304" charset="0"/>
              </a:rPr>
              <a:t>Frame Structure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>
                <a:latin typeface="Times New Roman" panose="02020603050405020304" charset="0"/>
                <a:cs typeface="Times New Roman" panose="02020603050405020304" charset="0"/>
              </a:rPr>
              <a:t>Header: Source &amp; Destination MAC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>
                <a:latin typeface="Times New Roman" panose="02020603050405020304" charset="0"/>
                <a:cs typeface="Times New Roman" panose="02020603050405020304" charset="0"/>
              </a:rPr>
              <a:t>Payload: Actual data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>
                <a:latin typeface="Times New Roman" panose="02020603050405020304" charset="0"/>
                <a:cs typeface="Times New Roman" panose="02020603050405020304" charset="0"/>
              </a:rPr>
              <a:t>Trailer: CRC for error detection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Times New Roman" panose="02020603050405020304" charset="0"/>
                <a:cs typeface="Times New Roman" panose="02020603050405020304" charset="0"/>
              </a:rPr>
              <a:t>Physical Addressing (MAC)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>
                <a:latin typeface="Times New Roman" panose="02020603050405020304" charset="0"/>
                <a:cs typeface="Times New Roman" panose="02020603050405020304" charset="0"/>
              </a:rPr>
              <a:t>Uses 48-bit MAC address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>
                <a:latin typeface="Times New Roman" panose="02020603050405020304" charset="0"/>
                <a:cs typeface="Times New Roman" panose="02020603050405020304" charset="0"/>
              </a:rPr>
              <a:t>Unique hardware identifier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>
                <a:latin typeface="Times New Roman" panose="02020603050405020304" charset="0"/>
                <a:cs typeface="Times New Roman" panose="02020603050405020304" charset="0"/>
              </a:rPr>
              <a:t>Used for local network deliver</a:t>
            </a:r>
            <a:r>
              <a:rPr lang="en-US">
                <a:latin typeface="Times New Roman" panose="02020603050405020304" charset="0"/>
                <a:cs typeface="Times New Roman" panose="02020603050405020304" charset="0"/>
              </a:rPr>
              <a:t>y</a:t>
            </a:r>
            <a:endParaRPr 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Error Control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>
                <a:latin typeface="Times New Roman" panose="02020603050405020304" charset="0"/>
                <a:cs typeface="Times New Roman" panose="02020603050405020304" charset="0"/>
              </a:rPr>
              <a:t>Detects transmission errors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>
                <a:latin typeface="Times New Roman" panose="02020603050405020304" charset="0"/>
                <a:cs typeface="Times New Roman" panose="02020603050405020304" charset="0"/>
              </a:rPr>
              <a:t>Corrects or retransmits frames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>
                <a:latin typeface="Times New Roman" panose="02020603050405020304" charset="0"/>
                <a:cs typeface="Times New Roman" panose="02020603050405020304" charset="0"/>
              </a:rPr>
              <a:t>Uses CRC, Checksum, Parity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Times New Roman" panose="02020603050405020304" charset="0"/>
                <a:cs typeface="Times New Roman" panose="02020603050405020304" charset="0"/>
              </a:rPr>
              <a:t>Flow Control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>
                <a:latin typeface="Times New Roman" panose="02020603050405020304" charset="0"/>
                <a:cs typeface="Times New Roman" panose="02020603050405020304" charset="0"/>
              </a:rPr>
              <a:t>Prevents receiver overflow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>
                <a:latin typeface="Times New Roman" panose="02020603050405020304" charset="0"/>
                <a:cs typeface="Times New Roman" panose="02020603050405020304" charset="0"/>
              </a:rPr>
              <a:t>Stop-and-Wait protocol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>
                <a:latin typeface="Times New Roman" panose="02020603050405020304" charset="0"/>
                <a:cs typeface="Times New Roman" panose="02020603050405020304" charset="0"/>
              </a:rPr>
              <a:t>Sliding Window protocol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Times New Roman" panose="02020603050405020304" charset="0"/>
                <a:cs typeface="Times New Roman" panose="02020603050405020304" charset="0"/>
              </a:rPr>
              <a:t>Access Control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>
                <a:latin typeface="Times New Roman" panose="02020603050405020304" charset="0"/>
                <a:cs typeface="Times New Roman" panose="02020603050405020304" charset="0"/>
              </a:rPr>
              <a:t>Controls access to shared media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>
                <a:latin typeface="Times New Roman" panose="02020603050405020304" charset="0"/>
                <a:cs typeface="Times New Roman" panose="02020603050405020304" charset="0"/>
              </a:rPr>
              <a:t>CSMA/CD for Ethernet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>
                <a:latin typeface="Times New Roman" panose="02020603050405020304" charset="0"/>
                <a:cs typeface="Times New Roman" panose="02020603050405020304" charset="0"/>
              </a:rPr>
              <a:t>CSMA/CA for Wi-Fi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Times New Roman" panose="02020603050405020304" charset="0"/>
                <a:cs typeface="Times New Roman" panose="02020603050405020304" charset="0"/>
              </a:rPr>
              <a:t>Communication Modes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>
                <a:latin typeface="Times New Roman" panose="02020603050405020304" charset="0"/>
                <a:cs typeface="Times New Roman" panose="02020603050405020304" charset="0"/>
              </a:rPr>
              <a:t>Defines direction of data flow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>
                <a:latin typeface="Times New Roman" panose="02020603050405020304" charset="0"/>
                <a:cs typeface="Times New Roman" panose="02020603050405020304" charset="0"/>
              </a:rPr>
              <a:t>Simplex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>
                <a:latin typeface="Times New Roman" panose="02020603050405020304" charset="0"/>
                <a:cs typeface="Times New Roman" panose="02020603050405020304" charset="0"/>
              </a:rPr>
              <a:t>Half-Duplex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>
                <a:latin typeface="Times New Roman" panose="02020603050405020304" charset="0"/>
                <a:cs typeface="Times New Roman" panose="02020603050405020304" charset="0"/>
              </a:rPr>
              <a:t>Full-Duplex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Simplex Communication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>
                <a:latin typeface="Times New Roman" panose="02020603050405020304" charset="0"/>
                <a:cs typeface="Times New Roman" panose="02020603050405020304" charset="0"/>
              </a:rPr>
              <a:t>One-way communication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>
                <a:latin typeface="Times New Roman" panose="02020603050405020304" charset="0"/>
                <a:cs typeface="Times New Roman" panose="02020603050405020304" charset="0"/>
              </a:rPr>
              <a:t>Sender → Receiver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>
                <a:latin typeface="Times New Roman" panose="02020603050405020304" charset="0"/>
                <a:cs typeface="Times New Roman" panose="02020603050405020304" charset="0"/>
              </a:rPr>
              <a:t>Examples: Keyboard, TV broadcast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Half-Duplex Communication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Two-way but one at a time</a:t>
            </a:r>
          </a:p>
          <a:p>
            <a:r>
              <a:t>Devices take turns</a:t>
            </a:r>
          </a:p>
          <a:p>
            <a:r>
              <a:t>Example: Walkie-talkie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Full-Duplex Communication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>
                <a:latin typeface="Times New Roman" panose="02020603050405020304" charset="0"/>
                <a:cs typeface="Times New Roman" panose="02020603050405020304" charset="0"/>
              </a:rPr>
              <a:t>Two-way simultaneous communication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>
                <a:latin typeface="Times New Roman" panose="02020603050405020304" charset="0"/>
                <a:cs typeface="Times New Roman" panose="02020603050405020304" charset="0"/>
              </a:rPr>
              <a:t>No collisions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>
                <a:latin typeface="Times New Roman" panose="02020603050405020304" charset="0"/>
                <a:cs typeface="Times New Roman" panose="02020603050405020304" charset="0"/>
              </a:rPr>
              <a:t>Example: Ethernet Switch, Telephone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Duplex Comparison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Simplex: One-way</a:t>
            </a:r>
          </a:p>
          <a:p>
            <a:r>
              <a:t>Half-Duplex: Two-way (not simultaneous)</a:t>
            </a:r>
          </a:p>
          <a:p>
            <a:r>
              <a:t>Full-Duplex: Two-way simultaneous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Sublayers of Data Link Layer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Logical Link Control (LLC)</a:t>
            </a:r>
          </a:p>
          <a:p>
            <a:r>
              <a:t>Media Access Control (MAC)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Logical Link Control (LLC)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Interface with Network Layer</a:t>
            </a:r>
          </a:p>
          <a:p>
            <a:r>
              <a:t>Error and flow control</a:t>
            </a:r>
          </a:p>
          <a:p>
            <a:r>
              <a:t>Protocol identification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Media Access Control (MAC)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Controls medium access</a:t>
            </a:r>
          </a:p>
          <a:p>
            <a:r>
              <a:t>Handles MAC addressing</a:t>
            </a:r>
          </a:p>
          <a:p>
            <a:r>
              <a:t>Defines frame format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Units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Data Link Layer: Frame</a:t>
            </a:r>
          </a:p>
          <a:p>
            <a:r>
              <a:t>Network Layer: Packet</a:t>
            </a:r>
          </a:p>
          <a:p>
            <a:r>
              <a:t>Physical Layer: Bits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Devices at Data Link Layer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Switch</a:t>
            </a:r>
          </a:p>
          <a:p>
            <a:r>
              <a:t>Bridge</a:t>
            </a:r>
          </a:p>
          <a:p>
            <a:r>
              <a:t>Network Interface Card (NIC)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Protocols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Ethernet (IEEE 802.3)</a:t>
            </a:r>
          </a:p>
          <a:p>
            <a:r>
              <a:t>Wi-Fi (IEEE 802.11)</a:t>
            </a:r>
          </a:p>
          <a:p>
            <a:r>
              <a:t>HDLC</a:t>
            </a:r>
          </a:p>
          <a:p>
            <a:r>
              <a:t>PPP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Real-Life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Computers connected via switch</a:t>
            </a:r>
          </a:p>
          <a:p>
            <a:r>
              <a:t>MAC-based communication</a:t>
            </a:r>
          </a:p>
          <a:p>
            <a:r>
              <a:t>Full-duplex data transfer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Advantages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Reliable communication</a:t>
            </a:r>
          </a:p>
          <a:p>
            <a:r>
              <a:t>Error detection and correction</a:t>
            </a:r>
          </a:p>
          <a:p>
            <a:r>
              <a:t>Efficient channel usage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Limitations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>
                <a:latin typeface="Times New Roman" panose="02020603050405020304" charset="0"/>
                <a:cs typeface="Times New Roman" panose="02020603050405020304" charset="0"/>
              </a:rPr>
              <a:t>Limited to local networks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>
                <a:latin typeface="Times New Roman" panose="02020603050405020304" charset="0"/>
                <a:cs typeface="Times New Roman" panose="02020603050405020304" charset="0"/>
              </a:rPr>
              <a:t>Cannot perform routing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>
                <a:latin typeface="Times New Roman" panose="02020603050405020304" charset="0"/>
                <a:cs typeface="Times New Roman" panose="02020603050405020304" charset="0"/>
              </a:rPr>
              <a:t>Depends on physical medium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>
                <a:latin typeface="Times New Roman" panose="02020603050405020304" charset="0"/>
                <a:cs typeface="Times New Roman" panose="02020603050405020304" charset="0"/>
              </a:rPr>
              <a:t>Layer 2 of OSI Model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>
                <a:latin typeface="Times New Roman" panose="02020603050405020304" charset="0"/>
                <a:cs typeface="Times New Roman" panose="02020603050405020304" charset="0"/>
              </a:rPr>
              <a:t>Uses frames and MAC addresses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>
                <a:latin typeface="Times New Roman" panose="02020603050405020304" charset="0"/>
                <a:cs typeface="Times New Roman" panose="02020603050405020304" charset="0"/>
              </a:rPr>
              <a:t>Controls error, flow, access &amp; duplex mode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ata Pie Charts">
  <a:themeElements>
    <a:clrScheme name="Data Pie Charts 13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9900"/>
      </a:accent1>
      <a:accent2>
        <a:srgbClr val="99CC00"/>
      </a:accent2>
      <a:accent3>
        <a:srgbClr val="FFFFFF"/>
      </a:accent3>
      <a:accent4>
        <a:srgbClr val="000000"/>
      </a:accent4>
      <a:accent5>
        <a:srgbClr val="AACAAA"/>
      </a:accent5>
      <a:accent6>
        <a:srgbClr val="8AB900"/>
      </a:accent6>
      <a:hlink>
        <a:srgbClr val="CC3300"/>
      </a:hlink>
      <a:folHlink>
        <a:srgbClr val="996600"/>
      </a:folHlink>
    </a:clrScheme>
    <a:fontScheme name="Data Pie Charts">
      <a:majorFont>
        <a:latin typeface="Arial"/>
        <a:ea typeface="SimSun"/>
        <a:cs typeface=""/>
      </a:majorFont>
      <a:minorFont>
        <a:latin typeface="Arial"/>
        <a:ea typeface="SimSun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lnDef>
  </a:objectDefaults>
  <a:extraClrSchemeLst>
    <a:extraClrScheme>
      <a:clrScheme name="Data Pie Charts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ata Pie Charts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ata Pie Charts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ata Pie Charts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ata Pie Charts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ata Pie Charts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ata Pie Charts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ata Pie Charts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ata Pie Charts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ata Pie Charts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ata Pie Charts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ata Pie Charts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ata Pie Charts 13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9900"/>
        </a:accent1>
        <a:accent2>
          <a:srgbClr val="99CC00"/>
        </a:accent2>
        <a:accent3>
          <a:srgbClr val="FFFFFF"/>
        </a:accent3>
        <a:accent4>
          <a:srgbClr val="000000"/>
        </a:accent4>
        <a:accent5>
          <a:srgbClr val="AACAAA"/>
        </a:accent5>
        <a:accent6>
          <a:srgbClr val="8AB900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2251</Words>
  <Application>WPS Presentation</Application>
  <PresentationFormat>On-screen Show (4:3)</PresentationFormat>
  <Paragraphs>155</Paragraphs>
  <Slides>25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25</vt:i4>
      </vt:variant>
    </vt:vector>
  </HeadingPairs>
  <TitlesOfParts>
    <vt:vector size="34" baseType="lpstr">
      <vt:lpstr>Arial</vt:lpstr>
      <vt:lpstr>SimSun</vt:lpstr>
      <vt:lpstr>Wingdings</vt:lpstr>
      <vt:lpstr>Arial</vt:lpstr>
      <vt:lpstr>Calibri</vt:lpstr>
      <vt:lpstr>Microsoft YaHei</vt:lpstr>
      <vt:lpstr>Arial Unicode MS</vt:lpstr>
      <vt:lpstr>Times New Roman</vt:lpstr>
      <vt:lpstr>Data Pie Charts</vt:lpstr>
      <vt:lpstr>PowerPoint 演示文稿</vt:lpstr>
      <vt:lpstr>What is Data Link Layer?</vt:lpstr>
      <vt:lpstr>Responsibilities</vt:lpstr>
      <vt:lpstr>Framing</vt:lpstr>
      <vt:lpstr>Frame Structure</vt:lpstr>
      <vt:lpstr>Physical Addressing (MAC)</vt:lpstr>
      <vt:lpstr>Error Control</vt:lpstr>
      <vt:lpstr>Flow Control</vt:lpstr>
      <vt:lpstr>Access Control</vt:lpstr>
      <vt:lpstr>Communication Modes</vt:lpstr>
      <vt:lpstr>Simplex Communication</vt:lpstr>
      <vt:lpstr>Half-Duplex Communication</vt:lpstr>
      <vt:lpstr>Full-Duplex Communication</vt:lpstr>
      <vt:lpstr>Duplex Comparison</vt:lpstr>
      <vt:lpstr>Sublayers of Data Link Layer</vt:lpstr>
      <vt:lpstr>Logical Link Control (LLC)</vt:lpstr>
      <vt:lpstr>Media Access Control (MAC)</vt:lpstr>
      <vt:lpstr>Data Units</vt:lpstr>
      <vt:lpstr>Devices at Data Link Layer</vt:lpstr>
      <vt:lpstr>Protocols</vt:lpstr>
      <vt:lpstr>Real-Life Example</vt:lpstr>
      <vt:lpstr>Advantages</vt:lpstr>
      <vt:lpstr>Limitations</vt:lpstr>
      <vt:lpstr>Summary</vt:lpstr>
      <vt:lpstr>Thank You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hp</cp:lastModifiedBy>
  <cp:revision>3</cp:revision>
  <dcterms:created xsi:type="dcterms:W3CDTF">2013-01-27T09:14:00Z</dcterms:created>
  <dcterms:modified xsi:type="dcterms:W3CDTF">2025-12-13T12:25:22Z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E3B9B49866B348EF9109F2E88D099D6F_13</vt:lpwstr>
  </property>
  <property fmtid="{D5CDD505-2E9C-101B-9397-08002B2CF9AE}" pid="3" name="KSOProductBuildVer">
    <vt:lpwstr>1033-12.2.0.23155</vt:lpwstr>
  </property>
</Properties>
</file>